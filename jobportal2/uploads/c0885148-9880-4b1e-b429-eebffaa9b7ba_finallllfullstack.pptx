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Calibri" panose="020F0502020204030204" pitchFamily="34" charset="0"/>
      <p:regular r:id="rId17"/>
      <p:bold r:id="rId18"/>
      <p:italic r:id="rId19"/>
      <p:boldItalic r:id="rId20"/>
    </p:embeddedFont>
    <p:embeddedFont>
      <p:font typeface="Bookman Old Style" panose="02050604050505020204" pitchFamily="18" charset="0"/>
      <p:regular r:id="rId21"/>
      <p:bold r:id="rId22"/>
      <p:italic r:id="rId23"/>
      <p:boldItalic r:id="rId24"/>
    </p:embeddedFont>
    <p:embeddedFont>
      <p:font typeface="Gotham Bold Italics" panose="020B0604020202020204" charset="0"/>
      <p:regular r:id="rId25"/>
    </p:embeddedFont>
    <p:embeddedFont>
      <p:font typeface="Cambria" panose="02040503050406030204" pitchFamily="18" charset="0"/>
      <p:regular r:id="rId26"/>
      <p:bold r:id="rId27"/>
      <p:italic r:id="rId28"/>
      <p:boldItalic r:id="rId29"/>
    </p:embeddedFont>
    <p:embeddedFont>
      <p:font typeface="Gotham"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3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xmlns=""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xmlns=""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xmlns=""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xmlns=""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a:t>
            </a:r>
            <a:r>
              <a:rPr lang="en-IN" sz="3600" b="1" dirty="0" smtClean="0">
                <a:solidFill>
                  <a:srgbClr val="C00000"/>
                </a:solidFill>
                <a:latin typeface="Arial" panose="020B0604020202020204" pitchFamily="34" charset="0"/>
                <a:cs typeface="Arial" panose="020B0604020202020204" pitchFamily="34" charset="0"/>
              </a:rPr>
              <a:t>2</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IN" sz="3600" b="1" dirty="0" smtClean="0">
                <a:solidFill>
                  <a:srgbClr val="C00000"/>
                </a:solidFill>
                <a:latin typeface="Arial" panose="020B0604020202020204" pitchFamily="34" charset="0"/>
                <a:cs typeface="Arial" panose="020B0604020202020204" pitchFamily="34" charset="0"/>
              </a:rPr>
              <a:t>21-04-2026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xmlns="" id="{7FFE0DA2-4723-7C13-5FD7-FC99B0394DDD}"/>
              </a:ext>
            </a:extLst>
          </p:cNvPr>
          <p:cNvSpPr txBox="1"/>
          <p:nvPr/>
        </p:nvSpPr>
        <p:spPr>
          <a:xfrm>
            <a:off x="1692835" y="5818238"/>
            <a:ext cx="15240000" cy="707886"/>
          </a:xfrm>
          <a:prstGeom prst="rect">
            <a:avLst/>
          </a:prstGeom>
          <a:noFill/>
        </p:spPr>
        <p:txBody>
          <a:bodyPr wrap="square" rtlCol="0">
            <a:spAutoFit/>
          </a:bodyPr>
          <a:lstStyle/>
          <a:p>
            <a:pPr algn="ctr"/>
            <a:r>
              <a:rPr lang="en-IN" sz="4000" b="1" dirty="0">
                <a:solidFill>
                  <a:srgbClr val="0033CC"/>
                </a:solidFill>
                <a:latin typeface="Times New Roman" panose="02020603050405020304" pitchFamily="18" charset="0"/>
                <a:cs typeface="Times New Roman" panose="02020603050405020304" pitchFamily="18" charset="0"/>
              </a:rPr>
              <a:t>Job Portal Management System</a:t>
            </a:r>
          </a:p>
        </p:txBody>
      </p:sp>
      <p:sp>
        <p:nvSpPr>
          <p:cNvPr id="14" name="TextBox 13">
            <a:extLst>
              <a:ext uri="{FF2B5EF4-FFF2-40B4-BE49-F238E27FC236}">
                <a16:creationId xmlns:a16="http://schemas.microsoft.com/office/drawing/2014/main" xmlns="" id="{EA8EEF4A-EB43-B7D9-87FC-7C7D752BCA78}"/>
              </a:ext>
            </a:extLst>
          </p:cNvPr>
          <p:cNvSpPr txBox="1"/>
          <p:nvPr/>
        </p:nvSpPr>
        <p:spPr>
          <a:xfrm>
            <a:off x="893870" y="7800539"/>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smtClean="0">
                <a:latin typeface="Cambria" panose="02040503050406030204" pitchFamily="18" charset="0"/>
                <a:ea typeface="Cambria" panose="02040503050406030204" pitchFamily="18" charset="0"/>
              </a:rPr>
              <a:t>A.Reshmitha</a:t>
            </a:r>
            <a:r>
              <a:rPr lang="en-US" sz="3000" dirty="0" smtClean="0">
                <a:latin typeface="Cambria" panose="02040503050406030204" pitchFamily="18" charset="0"/>
                <a:ea typeface="Cambria" panose="02040503050406030204" pitchFamily="18" charset="0"/>
              </a:rPr>
              <a:t>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VTU26450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Reg.No.23UECS0057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xmlns="" id="{6FF32D1A-2F9C-AC53-CCBD-ABF748DF236F}"/>
              </a:ext>
            </a:extLst>
          </p:cNvPr>
          <p:cNvSpPr txBox="1"/>
          <p:nvPr/>
        </p:nvSpPr>
        <p:spPr>
          <a:xfrm>
            <a:off x="10945035" y="7818586"/>
            <a:ext cx="6914603" cy="2077492"/>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2800" dirty="0" err="1">
                <a:latin typeface="Times New Roman" panose="02020603050405020304" pitchFamily="18" charset="0"/>
                <a:ea typeface="Cambria" panose="02040503050406030204" pitchFamily="18" charset="0"/>
                <a:cs typeface="Times New Roman" panose="02020603050405020304" pitchFamily="18" charset="0"/>
              </a:rPr>
              <a:t>Dr.</a:t>
            </a:r>
            <a:r>
              <a:rPr lang="en-IN" sz="2800" dirty="0">
                <a:latin typeface="Times New Roman" panose="02020603050405020304" pitchFamily="18" charset="0"/>
                <a:ea typeface="Cambria" panose="02040503050406030204" pitchFamily="18" charset="0"/>
                <a:cs typeface="Times New Roman" panose="02020603050405020304" pitchFamily="18" charset="0"/>
              </a:rPr>
              <a:t> K. </a:t>
            </a:r>
            <a:r>
              <a:rPr lang="en-IN" sz="2800" dirty="0" err="1">
                <a:latin typeface="Times New Roman" panose="02020603050405020304" pitchFamily="18" charset="0"/>
                <a:ea typeface="Cambria" panose="02040503050406030204" pitchFamily="18" charset="0"/>
                <a:cs typeface="Times New Roman" panose="02020603050405020304" pitchFamily="18" charset="0"/>
              </a:rPr>
              <a:t>Seethalakshmi,M.E,ph.D</a:t>
            </a:r>
            <a:r>
              <a:rPr lang="en-IN" sz="2800" dirty="0">
                <a:latin typeface="Times New Roman" panose="02020603050405020304" pitchFamily="18" charset="0"/>
                <a:ea typeface="Cambria" panose="02040503050406030204" pitchFamily="18" charset="0"/>
                <a:cs typeface="Times New Roman" panose="02020603050405020304" pitchFamily="18" charset="0"/>
              </a:rPr>
              <a:t>.,</a:t>
            </a:r>
          </a:p>
          <a:p>
            <a:pPr>
              <a:lnSpc>
                <a:spcPct val="150000"/>
              </a:lnSpc>
            </a:pPr>
            <a:r>
              <a:rPr lang="en-IN" sz="2800" dirty="0">
                <a:latin typeface="Times New Roman" panose="02020603050405020304" pitchFamily="18" charset="0"/>
                <a:ea typeface="Cambria" panose="02040503050406030204" pitchFamily="18" charset="0"/>
                <a:cs typeface="Times New Roman" panose="02020603050405020304" pitchFamily="18" charset="0"/>
              </a:rPr>
              <a:t>Associate Professor</a:t>
            </a:r>
            <a:endParaRPr lang="en-IN" sz="2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xmlns=""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SDG:SDG 8 – Decent Work and Economic Growth</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xmlns=""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837E9E58-77B6-079D-9D0D-E380CADAD23D}"/>
              </a:ext>
            </a:extLst>
          </p:cNvPr>
          <p:cNvSpPr txBox="1"/>
          <p:nvPr/>
        </p:nvSpPr>
        <p:spPr>
          <a:xfrm>
            <a:off x="2133600" y="2324100"/>
            <a:ext cx="15158525" cy="4524315"/>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A Job Portal Management System is a web-based application designed to connect job seekers and employers on a single platform. In today’s digital world, recruitment processes are shifting online for faster and more efficient hiring. This system allows students to create profiles, upload resumes, and apply for jobs easily. Employers can post job openings and manage applications efficiently. The platform reduces manual effort and improves accessibility. It provides a centralized system for job searching and recruitment. This project is important for simplifying hiring workflows. It has real-world relevance in education institutions and companies.</a:t>
            </a:r>
          </a:p>
          <a:p>
            <a:pPr algn="just"/>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xmlns=""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BDE2941C-1504-53F9-99B2-48002CA9A345}"/>
              </a:ext>
            </a:extLst>
          </p:cNvPr>
          <p:cNvSpPr txBox="1"/>
          <p:nvPr/>
        </p:nvSpPr>
        <p:spPr>
          <a:xfrm>
            <a:off x="2057400" y="2671373"/>
            <a:ext cx="15234725" cy="5324535"/>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Many existing job application systems are either manual or poorly organized, making it difficult for students to find relevant job opportunities. Employers also face challenges in managing large numbers of applications efficiently. Lack of automation leads to time-consuming processes and errors. There is no centralized platform for students and employers to interact easily. Tracking application status is also difficult. Hence, there is a need for a simple, automated, and efficient job portal system.</a:t>
            </a:r>
          </a:p>
          <a:p>
            <a:pPr algn="just"/>
            <a:endParaRPr lang="en-US" sz="3200" dirty="0">
              <a:latin typeface="Times New Roman" panose="02020603050405020304" pitchFamily="18" charset="0"/>
              <a:cs typeface="Times New Roman" panose="02020603050405020304" pitchFamily="18" charset="0"/>
            </a:endParaRPr>
          </a:p>
          <a:p>
            <a:pPr marL="457200" indent="-457200" algn="just">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xmlns=""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xmlns=""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2" name="TextBox 51">
            <a:extLst>
              <a:ext uri="{FF2B5EF4-FFF2-40B4-BE49-F238E27FC236}">
                <a16:creationId xmlns:a16="http://schemas.microsoft.com/office/drawing/2014/main" xmlns="" id="{056A0A3A-1541-5EC0-5370-02DA282ABDDE}"/>
              </a:ext>
            </a:extLst>
          </p:cNvPr>
          <p:cNvSpPr txBox="1"/>
          <p:nvPr/>
        </p:nvSpPr>
        <p:spPr>
          <a:xfrm>
            <a:off x="1948375" y="2214643"/>
            <a:ext cx="15310925" cy="255454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To </a:t>
            </a:r>
            <a:r>
              <a:rPr lang="en-US" sz="3200" dirty="0">
                <a:latin typeface="Times New Roman" panose="02020603050405020304" pitchFamily="18" charset="0"/>
                <a:cs typeface="Times New Roman" panose="02020603050405020304" pitchFamily="18" charset="0"/>
              </a:rPr>
              <a:t>design and develop a web-based Job Portal Management </a:t>
            </a:r>
            <a:r>
              <a:rPr lang="en-US" sz="3200" dirty="0" smtClean="0">
                <a:latin typeface="Times New Roman" panose="02020603050405020304" pitchFamily="18" charset="0"/>
                <a:cs typeface="Times New Roman" panose="02020603050405020304" pitchFamily="18" charset="0"/>
              </a:rPr>
              <a:t>System</a:t>
            </a:r>
          </a:p>
          <a:p>
            <a:pPr marL="457200" indent="-4572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To </a:t>
            </a:r>
            <a:r>
              <a:rPr lang="en-US" sz="3200" dirty="0">
                <a:latin typeface="Times New Roman" panose="02020603050405020304" pitchFamily="18" charset="0"/>
                <a:cs typeface="Times New Roman" panose="02020603050405020304" pitchFamily="18" charset="0"/>
              </a:rPr>
              <a:t>implement secure login with role-based </a:t>
            </a:r>
            <a:r>
              <a:rPr lang="en-US" sz="3200" dirty="0" smtClean="0">
                <a:latin typeface="Times New Roman" panose="02020603050405020304" pitchFamily="18" charset="0"/>
                <a:cs typeface="Times New Roman" panose="02020603050405020304" pitchFamily="18" charset="0"/>
              </a:rPr>
              <a:t>access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enable job posting and management for </a:t>
            </a:r>
            <a:r>
              <a:rPr lang="en-US" sz="3200" dirty="0" smtClean="0">
                <a:latin typeface="Times New Roman" panose="02020603050405020304" pitchFamily="18" charset="0"/>
                <a:cs typeface="Times New Roman" panose="02020603050405020304" pitchFamily="18" charset="0"/>
              </a:rPr>
              <a:t>employers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provide job search and filtering options for </a:t>
            </a:r>
            <a:r>
              <a:rPr lang="en-US" sz="3200" dirty="0" smtClean="0">
                <a:latin typeface="Times New Roman" panose="02020603050405020304" pitchFamily="18" charset="0"/>
                <a:cs typeface="Times New Roman" panose="02020603050405020304" pitchFamily="18" charset="0"/>
              </a:rPr>
              <a:t>students</a:t>
            </a:r>
          </a:p>
          <a:p>
            <a:pPr marL="457200" indent="-457200" algn="just">
              <a:buFont typeface="Arial" panose="020B0604020202020204" pitchFamily="34" charset="0"/>
              <a:buChar char="•"/>
            </a:pPr>
            <a:endParaRPr lang="en-US" sz="32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xmlns=""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6" name="TextBox 45">
            <a:extLst>
              <a:ext uri="{FF2B5EF4-FFF2-40B4-BE49-F238E27FC236}">
                <a16:creationId xmlns:a16="http://schemas.microsoft.com/office/drawing/2014/main" xmlns="" id="{E7218D14-8F44-8040-8BFD-49A59591F527}"/>
              </a:ext>
            </a:extLst>
          </p:cNvPr>
          <p:cNvSpPr txBox="1"/>
          <p:nvPr/>
        </p:nvSpPr>
        <p:spPr>
          <a:xfrm>
            <a:off x="152400" y="315604"/>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E8F19716-1653-9AE0-442E-B3829A585B46}"/>
              </a:ext>
            </a:extLst>
          </p:cNvPr>
          <p:cNvSpPr txBox="1"/>
          <p:nvPr/>
        </p:nvSpPr>
        <p:spPr>
          <a:xfrm>
            <a:off x="2057400" y="2171700"/>
            <a:ext cx="15234725" cy="7971413"/>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a centralized platform for job seekers and employers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Enables students to register, upload resumes, and apply for jobs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Allows employers to post, update, and delete job listings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Supports job filtering based on skills, location, and experience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Tracks application status (Applied, Shortlisted, Rejected)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Ensures secure login with role-based access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Reduces manual work and improves efficiency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better communication between users </a:t>
            </a:r>
          </a:p>
          <a:p>
            <a:pPr marL="457200" indent="-457200" algn="just">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2800" dirty="0"/>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xmlns=""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2" name="TextBox 41">
            <a:extLst>
              <a:ext uri="{FF2B5EF4-FFF2-40B4-BE49-F238E27FC236}">
                <a16:creationId xmlns:a16="http://schemas.microsoft.com/office/drawing/2014/main" xmlns=""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xmlns="" id="{25F9D4B0-38FE-DBA4-164D-1745B68379A5}"/>
              </a:ext>
            </a:extLst>
          </p:cNvPr>
          <p:cNvSpPr txBox="1"/>
          <p:nvPr/>
        </p:nvSpPr>
        <p:spPr>
          <a:xfrm>
            <a:off x="2209800" y="1638300"/>
            <a:ext cx="15082325" cy="138499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400" y="1717613"/>
            <a:ext cx="11430000" cy="68687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7" name="TextBox 46">
            <a:extLst>
              <a:ext uri="{FF2B5EF4-FFF2-40B4-BE49-F238E27FC236}">
                <a16:creationId xmlns:a16="http://schemas.microsoft.com/office/drawing/2014/main" xmlns=""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xmlns=""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5" name="Picture 34"/>
          <p:cNvPicPr>
            <a:picLocks noChangeAspect="1"/>
          </p:cNvPicPr>
          <p:nvPr/>
        </p:nvPicPr>
        <p:blipFill>
          <a:blip r:embed="rId4"/>
          <a:stretch>
            <a:fillRect/>
          </a:stretch>
        </p:blipFill>
        <p:spPr>
          <a:xfrm>
            <a:off x="5791201" y="1790700"/>
            <a:ext cx="73914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7" name="TextBox 46">
            <a:extLst>
              <a:ext uri="{FF2B5EF4-FFF2-40B4-BE49-F238E27FC236}">
                <a16:creationId xmlns:a16="http://schemas.microsoft.com/office/drawing/2014/main" xmlns="" id="{E4ED097B-FECF-66E6-2A98-0F8B4D948FC8}"/>
              </a:ext>
            </a:extLst>
          </p:cNvPr>
          <p:cNvSpPr txBox="1"/>
          <p:nvPr/>
        </p:nvSpPr>
        <p:spPr>
          <a:xfrm>
            <a:off x="152400" y="315605"/>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26E9F5F9-CCF8-6F05-4C01-034C88D7529E}"/>
              </a:ext>
            </a:extLst>
          </p:cNvPr>
          <p:cNvSpPr txBox="1"/>
          <p:nvPr/>
        </p:nvSpPr>
        <p:spPr>
          <a:xfrm>
            <a:off x="2133600" y="2324100"/>
            <a:ext cx="15158525" cy="5693866"/>
          </a:xfrm>
          <a:prstGeom prst="rect">
            <a:avLst/>
          </a:prstGeom>
          <a:noFill/>
        </p:spPr>
        <p:txBody>
          <a:bodyPr wrap="square" rtlCol="0">
            <a:spAutoFit/>
          </a:bodyPr>
          <a:lstStyle/>
          <a:p>
            <a:pPr algn="just"/>
            <a:r>
              <a:rPr lang="en-IN" sz="2800" b="1" dirty="0">
                <a:latin typeface="Times New Roman" panose="02020603050405020304" pitchFamily="18" charset="0"/>
                <a:cs typeface="Times New Roman" panose="02020603050405020304" pitchFamily="18" charset="0"/>
              </a:rPr>
              <a:t>Frontend:</a:t>
            </a:r>
            <a:r>
              <a:rPr lang="en-IN" sz="2800" dirty="0">
                <a:latin typeface="Times New Roman" panose="02020603050405020304" pitchFamily="18" charset="0"/>
                <a:cs typeface="Times New Roman" panose="02020603050405020304" pitchFamily="18" charset="0"/>
              </a:rPr>
              <a:t> HTML5, CSS3, </a:t>
            </a:r>
            <a:r>
              <a:rPr lang="en-IN" sz="2800" dirty="0" err="1">
                <a:latin typeface="Times New Roman" panose="02020603050405020304" pitchFamily="18" charset="0"/>
                <a:cs typeface="Times New Roman" panose="02020603050405020304" pitchFamily="18" charset="0"/>
              </a:rPr>
              <a:t>Thymeleaf</a:t>
            </a:r>
            <a:r>
              <a:rPr lang="en-IN" sz="2800" dirty="0">
                <a:latin typeface="Times New Roman" panose="02020603050405020304" pitchFamily="18" charset="0"/>
                <a:cs typeface="Times New Roman" panose="02020603050405020304" pitchFamily="18" charset="0"/>
              </a:rPr>
              <a:t>, JavaScript </a:t>
            </a:r>
          </a:p>
          <a:p>
            <a:pPr algn="just"/>
            <a:r>
              <a:rPr lang="en-IN" sz="2800" b="1" dirty="0">
                <a:latin typeface="Times New Roman" panose="02020603050405020304" pitchFamily="18" charset="0"/>
                <a:cs typeface="Times New Roman" panose="02020603050405020304" pitchFamily="18" charset="0"/>
              </a:rPr>
              <a:t>Backend:</a:t>
            </a:r>
            <a:r>
              <a:rPr lang="en-IN" sz="2800" dirty="0">
                <a:latin typeface="Times New Roman" panose="02020603050405020304" pitchFamily="18" charset="0"/>
                <a:cs typeface="Times New Roman" panose="02020603050405020304" pitchFamily="18" charset="0"/>
              </a:rPr>
              <a:t> Spring Boot, Spring MVC </a:t>
            </a:r>
          </a:p>
          <a:p>
            <a:pPr algn="just"/>
            <a:r>
              <a:rPr lang="en-IN" sz="2800" b="1" dirty="0">
                <a:latin typeface="Times New Roman" panose="02020603050405020304" pitchFamily="18" charset="0"/>
                <a:cs typeface="Times New Roman" panose="02020603050405020304" pitchFamily="18" charset="0"/>
              </a:rPr>
              <a:t>Database:</a:t>
            </a:r>
            <a:r>
              <a:rPr lang="en-IN" sz="2800" dirty="0">
                <a:latin typeface="Times New Roman" panose="02020603050405020304" pitchFamily="18" charset="0"/>
                <a:cs typeface="Times New Roman" panose="02020603050405020304" pitchFamily="18" charset="0"/>
              </a:rPr>
              <a:t> MySQL / H2 </a:t>
            </a:r>
          </a:p>
          <a:p>
            <a:pPr algn="just"/>
            <a:r>
              <a:rPr lang="en-IN" sz="2800" b="1" dirty="0">
                <a:latin typeface="Times New Roman" panose="02020603050405020304" pitchFamily="18" charset="0"/>
                <a:cs typeface="Times New Roman" panose="02020603050405020304" pitchFamily="18" charset="0"/>
              </a:rPr>
              <a:t>Tools:</a:t>
            </a:r>
            <a:r>
              <a:rPr lang="en-IN" sz="2800" dirty="0">
                <a:latin typeface="Times New Roman" panose="02020603050405020304" pitchFamily="18" charset="0"/>
                <a:cs typeface="Times New Roman" panose="02020603050405020304" pitchFamily="18" charset="0"/>
              </a:rPr>
              <a:t> </a:t>
            </a:r>
            <a:r>
              <a:rPr lang="en-IN" sz="2800" dirty="0" smtClean="0">
                <a:latin typeface="Times New Roman" panose="02020603050405020304" pitchFamily="18" charset="0"/>
                <a:cs typeface="Times New Roman" panose="02020603050405020304" pitchFamily="18" charset="0"/>
              </a:rPr>
              <a:t>Eclipse/ </a:t>
            </a:r>
            <a:r>
              <a:rPr lang="en-IN" sz="2800" dirty="0">
                <a:latin typeface="Times New Roman" panose="02020603050405020304" pitchFamily="18" charset="0"/>
                <a:cs typeface="Times New Roman" panose="02020603050405020304" pitchFamily="18" charset="0"/>
              </a:rPr>
              <a:t>Maven </a:t>
            </a:r>
          </a:p>
          <a:p>
            <a:pPr algn="just"/>
            <a:r>
              <a:rPr lang="en-IN" sz="2800" b="1" dirty="0">
                <a:latin typeface="Times New Roman" panose="02020603050405020304" pitchFamily="18" charset="0"/>
                <a:cs typeface="Times New Roman" panose="02020603050405020304" pitchFamily="18" charset="0"/>
              </a:rPr>
              <a:t>Server:</a:t>
            </a:r>
            <a:r>
              <a:rPr lang="en-IN" sz="2800" dirty="0">
                <a:latin typeface="Times New Roman" panose="02020603050405020304" pitchFamily="18" charset="0"/>
                <a:cs typeface="Times New Roman" panose="02020603050405020304" pitchFamily="18" charset="0"/>
              </a:rPr>
              <a:t> Apache Tomcat (embedded)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304C197-EAC7-7A26-FAED-ED7302DBEC6E}"/>
              </a:ext>
            </a:extLst>
          </p:cNvPr>
          <p:cNvSpPr txBox="1"/>
          <p:nvPr/>
        </p:nvSpPr>
        <p:spPr>
          <a:xfrm>
            <a:off x="1867295" y="1982349"/>
            <a:ext cx="15082325" cy="8525411"/>
          </a:xfrm>
          <a:prstGeom prst="rect">
            <a:avLst/>
          </a:prstGeom>
          <a:noFill/>
        </p:spPr>
        <p:txBody>
          <a:bodyPr wrap="square" rtlCol="0">
            <a:spAutoFit/>
          </a:bodyPr>
          <a:lstStyle/>
          <a:p>
            <a:endParaRPr lang="en-IN" sz="2800" b="1" dirty="0"/>
          </a:p>
          <a:p>
            <a:pPr algn="just"/>
            <a:r>
              <a:rPr lang="en-IN" sz="3200" b="1" dirty="0" smtClean="0">
                <a:latin typeface="Times New Roman" panose="02020603050405020304" pitchFamily="18" charset="0"/>
                <a:cs typeface="Times New Roman" panose="02020603050405020304" pitchFamily="18" charset="0"/>
              </a:rPr>
              <a:t>Module </a:t>
            </a:r>
            <a:r>
              <a:rPr lang="en-IN" sz="3200" b="1" dirty="0">
                <a:latin typeface="Times New Roman" panose="02020603050405020304" pitchFamily="18" charset="0"/>
                <a:cs typeface="Times New Roman" panose="02020603050405020304" pitchFamily="18" charset="0"/>
              </a:rPr>
              <a:t>1: User </a:t>
            </a:r>
            <a:r>
              <a:rPr lang="en-IN" sz="3200" b="1" dirty="0" smtClean="0">
                <a:latin typeface="Times New Roman" panose="02020603050405020304" pitchFamily="18" charset="0"/>
                <a:cs typeface="Times New Roman" panose="02020603050405020304" pitchFamily="18" charset="0"/>
              </a:rPr>
              <a:t>Management</a:t>
            </a:r>
          </a:p>
          <a:p>
            <a:pPr algn="just"/>
            <a:r>
              <a:rPr lang="en-US" sz="3200" dirty="0">
                <a:latin typeface="Times New Roman" panose="02020603050405020304" pitchFamily="18" charset="0"/>
                <a:cs typeface="Times New Roman" panose="02020603050405020304" pitchFamily="18" charset="0"/>
              </a:rPr>
              <a:t>Handles user registration, login, and profile management for students and employers. Provides secure authentication and role-based access. Students can upload resumes, and employers can manage their profiles</a:t>
            </a:r>
            <a:r>
              <a:rPr lang="en-US" sz="3200" dirty="0" smtClean="0">
                <a:latin typeface="Times New Roman" panose="02020603050405020304" pitchFamily="18" charset="0"/>
                <a:cs typeface="Times New Roman" panose="02020603050405020304" pitchFamily="18" charset="0"/>
              </a:rPr>
              <a:t>.</a:t>
            </a:r>
          </a:p>
          <a:p>
            <a:pPr algn="just"/>
            <a:r>
              <a:rPr lang="en-IN" sz="3200" b="1" dirty="0">
                <a:latin typeface="Times New Roman" panose="02020603050405020304" pitchFamily="18" charset="0"/>
                <a:cs typeface="Times New Roman" panose="02020603050405020304" pitchFamily="18" charset="0"/>
              </a:rPr>
              <a:t>Module 2: Job </a:t>
            </a:r>
            <a:r>
              <a:rPr lang="en-IN" sz="3200" b="1" dirty="0" smtClean="0">
                <a:latin typeface="Times New Roman" panose="02020603050405020304" pitchFamily="18" charset="0"/>
                <a:cs typeface="Times New Roman" panose="02020603050405020304" pitchFamily="18" charset="0"/>
              </a:rPr>
              <a:t>Management</a:t>
            </a:r>
          </a:p>
          <a:p>
            <a:pPr algn="just"/>
            <a:r>
              <a:rPr lang="en-US" sz="3200" dirty="0">
                <a:latin typeface="Times New Roman" panose="02020603050405020304" pitchFamily="18" charset="0"/>
                <a:cs typeface="Times New Roman" panose="02020603050405020304" pitchFamily="18" charset="0"/>
              </a:rPr>
              <a:t>Allows employers to post, update, and delete job listings. Job seekers can browse and filter jobs based on skills, location, and experience</a:t>
            </a:r>
            <a:r>
              <a:rPr lang="en-US" sz="3200" dirty="0" smtClean="0">
                <a:latin typeface="Times New Roman" panose="02020603050405020304" pitchFamily="18" charset="0"/>
                <a:cs typeface="Times New Roman" panose="02020603050405020304" pitchFamily="18" charset="0"/>
              </a:rPr>
              <a:t>.</a:t>
            </a:r>
          </a:p>
          <a:p>
            <a:pPr algn="just"/>
            <a:r>
              <a:rPr lang="en-US" sz="3200" b="1" dirty="0">
                <a:latin typeface="Times New Roman" panose="02020603050405020304" pitchFamily="18" charset="0"/>
                <a:cs typeface="Times New Roman" panose="02020603050405020304" pitchFamily="18" charset="0"/>
              </a:rPr>
              <a:t>Module 3: Application Management</a:t>
            </a:r>
          </a:p>
          <a:p>
            <a:pPr algn="just"/>
            <a:r>
              <a:rPr lang="en-US" sz="3200" dirty="0">
                <a:latin typeface="Times New Roman" panose="02020603050405020304" pitchFamily="18" charset="0"/>
                <a:cs typeface="Times New Roman" panose="02020603050405020304" pitchFamily="18" charset="0"/>
              </a:rPr>
              <a:t>Manages job applications and tracks status (Applied, Shortlisted, Rejected). Employers can view applicants and shortlist or reject candidates.</a:t>
            </a:r>
          </a:p>
          <a:p>
            <a:pPr algn="just"/>
            <a:endParaRPr lang="en-IN" sz="3200" dirty="0" smtClean="0">
              <a:latin typeface="Times New Roman" panose="02020603050405020304" pitchFamily="18" charset="0"/>
              <a:cs typeface="Times New Roman" panose="02020603050405020304" pitchFamily="18" charset="0"/>
            </a:endParaRPr>
          </a:p>
          <a:p>
            <a:pPr algn="just"/>
            <a:endParaRPr lang="en-IN" sz="2800" dirty="0" smtClean="0"/>
          </a:p>
          <a:p>
            <a:pPr algn="just"/>
            <a:endParaRPr lang="en-IN" sz="2800" dirty="0" smtClean="0"/>
          </a:p>
          <a:p>
            <a:endParaRPr lang="en-IN" sz="2800" dirty="0" smtClean="0"/>
          </a:p>
          <a:p>
            <a:endParaRPr lang="en-IN" sz="2800" dirty="0" smtClean="0"/>
          </a:p>
          <a:p>
            <a:endParaRPr lang="en-IN" sz="2800" dirty="0" smtClean="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xmlns=""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EC6A4DA-6D4B-3E6A-CF92-E543DD7AFBF5}"/>
              </a:ext>
            </a:extLst>
          </p:cNvPr>
          <p:cNvSpPr txBox="1"/>
          <p:nvPr/>
        </p:nvSpPr>
        <p:spPr>
          <a:xfrm>
            <a:off x="2209800" y="1638300"/>
            <a:ext cx="15082325" cy="3108543"/>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p:cNvPicPr>
            <a:picLocks noChangeAspect="1"/>
          </p:cNvPicPr>
          <p:nvPr/>
        </p:nvPicPr>
        <p:blipFill>
          <a:blip r:embed="rId4"/>
          <a:stretch>
            <a:fillRect/>
          </a:stretch>
        </p:blipFill>
        <p:spPr>
          <a:xfrm>
            <a:off x="3657600" y="2133227"/>
            <a:ext cx="9982200" cy="5660735"/>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xmlns=""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746F2C30-13B1-3754-C147-D58A899BC459}"/>
              </a:ext>
            </a:extLst>
          </p:cNvPr>
          <p:cNvSpPr txBox="1"/>
          <p:nvPr/>
        </p:nvSpPr>
        <p:spPr>
          <a:xfrm>
            <a:off x="2209800" y="1638300"/>
            <a:ext cx="15082325" cy="267765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9" name="Picture 38"/>
          <p:cNvPicPr>
            <a:picLocks noChangeAspect="1"/>
          </p:cNvPicPr>
          <p:nvPr/>
        </p:nvPicPr>
        <p:blipFill>
          <a:blip r:embed="rId4"/>
          <a:stretch>
            <a:fillRect/>
          </a:stretch>
        </p:blipFill>
        <p:spPr>
          <a:xfrm>
            <a:off x="4267200" y="2133228"/>
            <a:ext cx="9525000" cy="5829672"/>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xmlns=""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p:cNvPicPr>
            <a:picLocks noChangeAspect="1"/>
          </p:cNvPicPr>
          <p:nvPr/>
        </p:nvPicPr>
        <p:blipFill>
          <a:blip r:embed="rId4"/>
          <a:stretch>
            <a:fillRect/>
          </a:stretch>
        </p:blipFill>
        <p:spPr>
          <a:xfrm>
            <a:off x="3505200" y="1866616"/>
            <a:ext cx="9982200" cy="693448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xmlns=""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p:cNvPicPr>
            <a:picLocks noChangeAspect="1"/>
          </p:cNvPicPr>
          <p:nvPr/>
        </p:nvPicPr>
        <p:blipFill>
          <a:blip r:embed="rId4"/>
          <a:stretch>
            <a:fillRect/>
          </a:stretch>
        </p:blipFill>
        <p:spPr>
          <a:xfrm>
            <a:off x="3211316" y="2015466"/>
            <a:ext cx="11114284" cy="623820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xmlns=""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xmlns=""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xmlns=""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xmlns=""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xmlns=""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xmlns=""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xmlns=""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xmlns=""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xmlns=""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xmlns=""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xmlns=""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xmlns=""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xmlns=""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xmlns=""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xmlns=""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xmlns=""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xmlns=""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xmlns=""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xmlns=""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xmlns=""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xmlns=""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xmlns=""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xmlns=""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xmlns=""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xmlns=""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xmlns=""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xmlns=""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xmlns=""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44" name="Group 44">
            <a:extLst>
              <a:ext uri="{FF2B5EF4-FFF2-40B4-BE49-F238E27FC236}">
                <a16:creationId xmlns:a16="http://schemas.microsoft.com/office/drawing/2014/main" xmlns=""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xmlns=""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xmlns=""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xmlns=""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ectangle 2"/>
          <p:cNvSpPr/>
          <p:nvPr/>
        </p:nvSpPr>
        <p:spPr>
          <a:xfrm>
            <a:off x="3048000" y="2475171"/>
            <a:ext cx="11658600" cy="5509200"/>
          </a:xfrm>
          <a:prstGeom prst="rect">
            <a:avLst/>
          </a:prstGeom>
        </p:spPr>
        <p:txBody>
          <a:bodyPr wrap="square">
            <a:spAutoFit/>
          </a:bodyPr>
          <a:lstStyle/>
          <a:p>
            <a:pPr algn="just"/>
            <a:r>
              <a:rPr lang="en-US" sz="3200" b="1" dirty="0" smtClean="0">
                <a:latin typeface="Times New Roman" panose="02020603050405020304" pitchFamily="18" charset="0"/>
                <a:cs typeface="Times New Roman" panose="02020603050405020304" pitchFamily="18" charset="0"/>
              </a:rPr>
              <a:t>Advantages:</a:t>
            </a:r>
          </a:p>
          <a:p>
            <a:pPr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 Easy </a:t>
            </a:r>
            <a:r>
              <a:rPr lang="en-US" sz="3200" dirty="0">
                <a:latin typeface="Times New Roman" panose="02020603050405020304" pitchFamily="18" charset="0"/>
                <a:cs typeface="Times New Roman" panose="02020603050405020304" pitchFamily="18" charset="0"/>
              </a:rPr>
              <a:t>job search and application </a:t>
            </a:r>
          </a:p>
          <a:p>
            <a:pPr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 Saves </a:t>
            </a:r>
            <a:r>
              <a:rPr lang="en-US" sz="3200" dirty="0">
                <a:latin typeface="Times New Roman" panose="02020603050405020304" pitchFamily="18" charset="0"/>
                <a:cs typeface="Times New Roman" panose="02020603050405020304" pitchFamily="18" charset="0"/>
              </a:rPr>
              <a:t>time for both students and employers </a:t>
            </a:r>
          </a:p>
          <a:p>
            <a:pPr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 Centralized </a:t>
            </a:r>
            <a:r>
              <a:rPr lang="en-US" sz="3200" dirty="0">
                <a:latin typeface="Times New Roman" panose="02020603050405020304" pitchFamily="18" charset="0"/>
                <a:cs typeface="Times New Roman" panose="02020603050405020304" pitchFamily="18" charset="0"/>
              </a:rPr>
              <a:t>system for recruitment </a:t>
            </a:r>
          </a:p>
          <a:p>
            <a:pPr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 Secure </a:t>
            </a:r>
            <a:r>
              <a:rPr lang="en-US" sz="3200" dirty="0">
                <a:latin typeface="Times New Roman" panose="02020603050405020304" pitchFamily="18" charset="0"/>
                <a:cs typeface="Times New Roman" panose="02020603050405020304" pitchFamily="18" charset="0"/>
              </a:rPr>
              <a:t>and role-based access </a:t>
            </a:r>
          </a:p>
          <a:p>
            <a:pPr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 Scalable </a:t>
            </a:r>
            <a:r>
              <a:rPr lang="en-US" sz="3200" dirty="0">
                <a:latin typeface="Times New Roman" panose="02020603050405020304" pitchFamily="18" charset="0"/>
                <a:cs typeface="Times New Roman" panose="02020603050405020304" pitchFamily="18" charset="0"/>
              </a:rPr>
              <a:t>and user-friendly </a:t>
            </a:r>
            <a:endParaRPr lang="en-US" sz="3200" dirty="0" smtClean="0">
              <a:latin typeface="Times New Roman" panose="02020603050405020304" pitchFamily="18" charset="0"/>
              <a:cs typeface="Times New Roman" panose="02020603050405020304" pitchFamily="18" charset="0"/>
            </a:endParaRPr>
          </a:p>
          <a:p>
            <a:pPr algn="just"/>
            <a:r>
              <a:rPr lang="en-US" sz="3200" b="1" dirty="0" smtClean="0">
                <a:latin typeface="Times New Roman" panose="02020603050405020304" pitchFamily="18" charset="0"/>
                <a:cs typeface="Times New Roman" panose="02020603050405020304" pitchFamily="18" charset="0"/>
              </a:rPr>
              <a:t>Limitations:</a:t>
            </a:r>
          </a:p>
          <a:p>
            <a:pPr marL="457200" indent="-4572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 Requires </a:t>
            </a:r>
            <a:r>
              <a:rPr lang="en-US" sz="3200" dirty="0">
                <a:latin typeface="Times New Roman" panose="02020603050405020304" pitchFamily="18" charset="0"/>
                <a:cs typeface="Times New Roman" panose="02020603050405020304" pitchFamily="18" charset="0"/>
              </a:rPr>
              <a:t>internet connection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Basic version may not include advanced analytics </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Email notifications may require additional setup </a:t>
            </a:r>
          </a:p>
          <a:p>
            <a:pPr marL="457200" indent="-457200" algn="just">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266</TotalTime>
  <Words>692</Words>
  <Application>Microsoft Office PowerPoint</Application>
  <PresentationFormat>Custom</PresentationFormat>
  <Paragraphs>240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Bookman Old Style</vt:lpstr>
      <vt:lpstr>Times New Roman</vt:lpstr>
      <vt:lpstr>Gotham Bold Italics</vt:lpstr>
      <vt:lpstr>Cambria</vt:lpstr>
      <vt:lpstr>Gotham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Araviti Reshmitha</dc:creator>
  <cp:lastModifiedBy>Araviti Reshmitha</cp:lastModifiedBy>
  <cp:revision>15</cp:revision>
  <dcterms:created xsi:type="dcterms:W3CDTF">2006-08-16T00:00:00Z</dcterms:created>
  <dcterms:modified xsi:type="dcterms:W3CDTF">2026-04-20T17:29:35Z</dcterms:modified>
  <dc:identifier>DAHCaYqJ9OU</dc:identifier>
</cp:coreProperties>
</file>